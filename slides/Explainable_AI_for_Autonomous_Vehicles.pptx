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embeddedFontLst>
    <p:embeddedFont>
      <p:font typeface="Instrument Sans Medium" pitchFamily="2" charset="0"/>
      <p:regular r:id="rId21"/>
    </p:embeddedFont>
    <p:embeddedFont>
      <p:font typeface="Instrument Sans Semi Bold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589"/>
  </p:normalViewPr>
  <p:slideViewPr>
    <p:cSldViewPr snapToGrid="0" snapToObjects="1">
      <p:cViewPr varScale="1">
        <p:scale>
          <a:sx n="100" d="100"/>
          <a:sy n="100" d="100"/>
        </p:scale>
        <p:origin x="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12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348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7079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42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2181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Explainable AI for Autonomous Vehicles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795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Making Self-Driving Decisions Transparent and Trustworthy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793790" y="44975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[Mohamed Alkhozendar], [Abdullah Alshobaki], [Masa Bokhary], [Mohamed Allabani], [Abdullah Shaher]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Date 8/1/2026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448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Department of Artificial Intelligence Engineering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32"/>
    </mc:Choice>
    <mc:Fallback xmlns="">
      <p:transition spd="slow" advTm="130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658" y="1311712"/>
            <a:ext cx="6862763" cy="38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Black Box Problem in Autonomous Vehicles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88658" y="1879521"/>
            <a:ext cx="7766685" cy="1534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did the car suddenly brake?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88658" y="3598664"/>
            <a:ext cx="7766685" cy="737711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73418" y="3598664"/>
            <a:ext cx="60960" cy="737711"/>
          </a:xfrm>
          <a:prstGeom prst="roundRect">
            <a:avLst>
              <a:gd name="adj" fmla="val 18129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2371" y="3736658"/>
            <a:ext cx="1534835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Opaque AI Decisions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2371" y="4002048"/>
            <a:ext cx="744497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systems often operate as "black boxes," making decisions without providing human-understandable reasoning.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8658" y="4459129"/>
            <a:ext cx="7766685" cy="737711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3418" y="4459129"/>
            <a:ext cx="60960" cy="737711"/>
          </a:xfrm>
          <a:prstGeom prst="roundRect">
            <a:avLst>
              <a:gd name="adj" fmla="val 18129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2371" y="4597122"/>
            <a:ext cx="1775698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Tesla Autopilot Incidents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72371" y="4862512"/>
            <a:ext cx="744497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High-profile accidents highlight the critical need for transparency in autonomous driving systems.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8658" y="5319593"/>
            <a:ext cx="7766685" cy="737711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3418" y="5319593"/>
            <a:ext cx="60960" cy="737711"/>
          </a:xfrm>
          <a:prstGeom prst="roundRect">
            <a:avLst>
              <a:gd name="adj" fmla="val 18129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2371" y="5457587"/>
            <a:ext cx="1534835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Public Distrust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72371" y="5722977"/>
            <a:ext cx="744497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significant portion of the public (73%) distrusts autonomous vehicles due to this lack of transparency.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8658" y="6180058"/>
            <a:ext cx="7766685" cy="737711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1524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3418" y="6180058"/>
            <a:ext cx="60960" cy="737711"/>
          </a:xfrm>
          <a:prstGeom prst="roundRect">
            <a:avLst>
              <a:gd name="adj" fmla="val 18129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2371" y="6318052"/>
            <a:ext cx="1570196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Validation Challenges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2371" y="6583442"/>
            <a:ext cx="7444978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Without understanding the underlying logic, it's impossible to fully validate or debug AI behavior.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"/>
    </mc:Choice>
    <mc:Fallback xmlns="">
      <p:transition spd="slow" advTm="10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67737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5149" y="1013103"/>
            <a:ext cx="5603319" cy="418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Four Pillars of Explainable AI for AVs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955149" y="1833324"/>
            <a:ext cx="8206502" cy="98762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55149" y="1818084"/>
            <a:ext cx="8206502" cy="60960"/>
          </a:xfrm>
          <a:prstGeom prst="roundRect">
            <a:avLst>
              <a:gd name="adj" fmla="val 19774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857542" y="1632466"/>
            <a:ext cx="401717" cy="401717"/>
          </a:xfrm>
          <a:prstGeom prst="roundRect">
            <a:avLst>
              <a:gd name="adj" fmla="val 22762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8033" y="1752957"/>
            <a:ext cx="160615" cy="1606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04215" y="2168128"/>
            <a:ext cx="1674138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Safety Assurance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104215" y="2457569"/>
            <a:ext cx="7908369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Explainability allows validation of reasoning, crucial for identifying and mitigating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potential failure modes in complex scenarios.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955149" y="3155632"/>
            <a:ext cx="8206502" cy="987623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955149" y="3140393"/>
            <a:ext cx="8206502" cy="60960"/>
          </a:xfrm>
          <a:prstGeom prst="roundRect">
            <a:avLst>
              <a:gd name="adj" fmla="val 19774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9857542" y="2954774"/>
            <a:ext cx="401717" cy="401717"/>
          </a:xfrm>
          <a:prstGeom prst="roundRect">
            <a:avLst>
              <a:gd name="adj" fmla="val 22762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8033" y="3075265"/>
            <a:ext cx="160615" cy="1606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04215" y="3490436"/>
            <a:ext cx="1849398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Regulatory Compliance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104215" y="3779877"/>
            <a:ext cx="7908369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Emerging regulations, like the EU AI Act, mandate transparency, making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explainability a prerequisite for market approval.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955149" y="4477941"/>
            <a:ext cx="8206502" cy="1201936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955149" y="4462701"/>
            <a:ext cx="8206502" cy="60960"/>
          </a:xfrm>
          <a:prstGeom prst="roundRect">
            <a:avLst>
              <a:gd name="adj" fmla="val 19774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857542" y="4277082"/>
            <a:ext cx="401717" cy="401717"/>
          </a:xfrm>
          <a:prstGeom prst="roundRect">
            <a:avLst>
              <a:gd name="adj" fmla="val 22762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8033" y="4397573"/>
            <a:ext cx="160615" cy="1606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04215" y="4812744"/>
            <a:ext cx="2075855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Public Trust &amp; Acceptance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104215" y="5102185"/>
            <a:ext cx="79083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how AVs make decisions is key to building consumer confidence and accelerating adoption beyond the current 73% distrust.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955149" y="6014561"/>
            <a:ext cx="8206502" cy="1201936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955149" y="5999321"/>
            <a:ext cx="8206502" cy="60960"/>
          </a:xfrm>
          <a:prstGeom prst="roundRect">
            <a:avLst>
              <a:gd name="adj" fmla="val 19774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9857542" y="5813703"/>
            <a:ext cx="401717" cy="401717"/>
          </a:xfrm>
          <a:prstGeom prst="roundRect">
            <a:avLst>
              <a:gd name="adj" fmla="val 227623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8033" y="5934194"/>
            <a:ext cx="160615" cy="1606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04215" y="6349365"/>
            <a:ext cx="1967389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Liability &amp; Accountability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104215" y="6638806"/>
            <a:ext cx="79083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 the event of an accident, an auditable trail of AI decision-making is essential for determining responsibility and improving future systems.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6285" y="487680"/>
            <a:ext cx="8235553" cy="554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Explainable AI System Architecture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85" y="1307902"/>
            <a:ext cx="11217831" cy="4566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6285" y="6251496"/>
            <a:ext cx="2216944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Overview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706285" y="6705838"/>
            <a:ext cx="6557605" cy="851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architecture integrates perception, explainability, and real-time visualization within the CARLA simulation environment, specifically using a Tesla Model 3 with Autopilot capabilities.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704183" y="6251496"/>
            <a:ext cx="2216944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704183" y="6705838"/>
            <a:ext cx="4227433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Multi-modal sensor fusion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04183" y="7051715"/>
            <a:ext cx="4227433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 XAI techniques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04183" y="7397591"/>
            <a:ext cx="4227433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operation (5-8 FPS)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7510" y="463272"/>
            <a:ext cx="6167795" cy="52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Sensor Fusion: LiDAR + Camera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987510" y="1326475"/>
            <a:ext cx="10655260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Combining the strengths of disparate sensor modalities to achieve robust environmental perception.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87510" y="1953816"/>
            <a:ext cx="210573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LiDAR Data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510" y="2406491"/>
            <a:ext cx="3240762" cy="3167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7510" y="5763220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 at 8.2m, 1.8m wide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87510" y="6184344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Precise geometry (&lt; 1m error)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87510" y="6512838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 semantic information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46896" y="1953816"/>
            <a:ext cx="210573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Camera Vision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895" y="2406491"/>
            <a:ext cx="3288625" cy="31078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28305" y="5763620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 detected (85% conf)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46821" y="6187059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Object identification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46821" y="6512838"/>
            <a:ext cx="324076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 precise distance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306282" y="1953816"/>
            <a:ext cx="210573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Fusion Output</a:t>
            </a:r>
            <a:endParaRPr lang="en-US" sz="1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282" y="2406491"/>
            <a:ext cx="3351490" cy="31078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06282" y="5736848"/>
            <a:ext cx="3351490" cy="42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CAR at 8.2m ahead</a:t>
            </a:r>
            <a:endParaRPr lang="en-US" sz="2650" dirty="0"/>
          </a:p>
        </p:txBody>
      </p:sp>
      <p:sp>
        <p:nvSpPr>
          <p:cNvPr id="17" name="Text 12"/>
          <p:cNvSpPr/>
          <p:nvPr/>
        </p:nvSpPr>
        <p:spPr>
          <a:xfrm>
            <a:off x="9306282" y="6243281"/>
            <a:ext cx="3351490" cy="107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fusion algorithm synthesizes these inputs, providing the "best of both worlds": accurate localization with rich semantic context.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31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726" y="2012513"/>
            <a:ext cx="4692134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360° LiDAR Detection Pipeline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143726" y="2900237"/>
            <a:ext cx="164877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Specifications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12127" y="3297712"/>
            <a:ext cx="2277666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Channels: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64 (Velodyne HDL-64E equivalent)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12127" y="4337911"/>
            <a:ext cx="2277666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Range: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80m, 500,000 points/second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12127" y="5308190"/>
            <a:ext cx="2277666" cy="210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Frequency: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algn="l">
              <a:lnSpc>
                <a:spcPts val="1650"/>
              </a:lnSpc>
              <a:buSzPct val="100000"/>
            </a:pP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10Hz rotation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12127" y="6006108"/>
            <a:ext cx="2277666" cy="421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Coverage: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Rolling buffer of 10 frames for full 360° view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49252" y="2900237"/>
            <a:ext cx="164877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Processing Pipeline</a:t>
            </a:r>
            <a:endParaRPr lang="en-US" sz="2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723" y="3106334"/>
            <a:ext cx="5743456" cy="40088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83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LiDAR Accuracy &amp;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91245"/>
            <a:ext cx="3501509" cy="3404711"/>
          </a:xfrm>
          <a:prstGeom prst="roundRect">
            <a:avLst>
              <a:gd name="adj" fmla="val 5996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3600926"/>
            <a:ext cx="354330" cy="283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1748" y="3574733"/>
            <a:ext cx="24667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Metrics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01748" y="4155877"/>
            <a:ext cx="24667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Distance Accuracy: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&lt; 1m error (mean: 0.8m)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601748" y="5085755"/>
            <a:ext cx="24667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Detection Rate: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95% within 20m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601748" y="6015633"/>
            <a:ext cx="24667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Positives: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&lt; 5%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196483" y="3291245"/>
            <a:ext cx="31613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Vehicle detected at 8.2m (Ground truth: 8.2m) </a:t>
            </a:r>
            <a:r>
              <a:rPr lang="en-US" sz="175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✓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196483" y="4221123"/>
            <a:ext cx="31613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LiDAR system consistently delivers precise and reliable object detection, crucial for safe autonomous navigation.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4856321" y="3291245"/>
            <a:ext cx="30480" cy="2744391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143" y="704493"/>
            <a:ext cx="8001714" cy="101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Camera-Based Semantic Understanding with YOLOv5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1143" y="2132290"/>
            <a:ext cx="2040017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Yolo in Action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43" y="2570797"/>
            <a:ext cx="3801785" cy="30716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143" y="5821977"/>
            <a:ext cx="3801785" cy="78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efficient architecture enables </a:t>
            </a: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processing at 30+ FPS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 an impressive 28ms inference time.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778693" y="2132290"/>
            <a:ext cx="2373273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Detected Object Classes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693" y="2570798"/>
            <a:ext cx="489585" cy="4895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78693" y="3264337"/>
            <a:ext cx="2040017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Vehicles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78693" y="3682365"/>
            <a:ext cx="380178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Cars, Trucks, Buses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8693" y="4269819"/>
            <a:ext cx="489585" cy="4895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8693" y="4963358"/>
            <a:ext cx="2149078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Vulnerable Road Users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778693" y="5381387"/>
            <a:ext cx="380178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Pedestrians, Cyclists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8693" y="5968841"/>
            <a:ext cx="489585" cy="4895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778693" y="6662380"/>
            <a:ext cx="2040017" cy="25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Signals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4778693" y="7080409"/>
            <a:ext cx="3801785" cy="261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Traffic Lights, Stop Signs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0614"/>
            <a:ext cx="73372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Accuracy 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63021"/>
            <a:ext cx="13042821" cy="3266837"/>
          </a:xfrm>
          <a:prstGeom prst="roundRect">
            <a:avLst>
              <a:gd name="adj" fmla="val 62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27064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343" y="2414349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434" y="2414349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7524" y="2414349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FPS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920960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343" y="3064669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YOLOV5n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434" y="3064669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7524" y="3064669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41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57128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343" y="3714988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YOLOV5s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434" y="3714988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89%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7524" y="3714988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22159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343" y="4365308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YOLOV5m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434" y="4365308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96%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7524" y="4365308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21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87191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343" y="5015627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Fine-tuned YOLOV5s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434" y="5015627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96%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7524" y="5015627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31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57850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Inference: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28ms (GPU)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40306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After multiple test a YOLOV5s model was fine-tuned on hundred of real world + Carla simulator road images to have the perfect balance between accuracy and FPS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613" y="311825"/>
            <a:ext cx="68952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WHERE Does the Model Look? Grad-CAM Attention</a:t>
            </a:r>
            <a:endParaRPr lang="en-US" sz="2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13" y="966531"/>
            <a:ext cx="5878496" cy="29154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65565" y="4997529"/>
            <a:ext cx="649307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1665565" y="540567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Attention Map</a:t>
            </a:r>
            <a:endParaRPr lang="en-US" sz="11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12" y="4539309"/>
            <a:ext cx="5878497" cy="292132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290" y="4539309"/>
            <a:ext cx="5878497" cy="29213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665565" y="13907572"/>
            <a:ext cx="649307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heatmap is overlaid on the original image, visually explaining </a:t>
            </a: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which specific regions</a:t>
            </a: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model focused on for its detection.</a:t>
            </a:r>
            <a:endParaRPr lang="en-US" sz="850" dirty="0"/>
          </a:p>
        </p:txBody>
      </p:sp>
      <p:sp>
        <p:nvSpPr>
          <p:cNvPr id="16" name="Shape 7"/>
          <p:cNvSpPr/>
          <p:nvPr/>
        </p:nvSpPr>
        <p:spPr>
          <a:xfrm>
            <a:off x="985242" y="14511338"/>
            <a:ext cx="7173397" cy="953810"/>
          </a:xfrm>
          <a:prstGeom prst="roundRect">
            <a:avLst>
              <a:gd name="adj" fmla="val 10702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590" y="14666119"/>
            <a:ext cx="177165" cy="14168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389102" y="14653022"/>
            <a:ext cx="384560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Gradient-weighted Class Activation Mapping (Grad-CAM)</a:t>
            </a:r>
            <a:endParaRPr lang="en-US" sz="1100" dirty="0"/>
          </a:p>
        </p:txBody>
      </p:sp>
      <p:sp>
        <p:nvSpPr>
          <p:cNvPr id="19" name="Text 9"/>
          <p:cNvSpPr/>
          <p:nvPr/>
        </p:nvSpPr>
        <p:spPr>
          <a:xfrm>
            <a:off x="1389102" y="14943534"/>
            <a:ext cx="665618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Grad-CAM helps us understand the spatial locations in an image that are most critical for the Convolutional Neural Network's predictions, providing transparency into the model's decision-making process.</a:t>
            </a:r>
            <a:endParaRPr lang="en-US" sz="8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D7E7502-A604-F65B-2B8D-2B134B28F6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291" y="974369"/>
            <a:ext cx="5878496" cy="29075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DACD72-81E6-9089-7A4D-46E8E5B7E67B}"/>
              </a:ext>
            </a:extLst>
          </p:cNvPr>
          <p:cNvSpPr txBox="1"/>
          <p:nvPr/>
        </p:nvSpPr>
        <p:spPr>
          <a:xfrm>
            <a:off x="2596694" y="4023648"/>
            <a:ext cx="2098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Input Image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FC6B6C-10FC-B509-3919-E86A1FAD2F1F}"/>
              </a:ext>
            </a:extLst>
          </p:cNvPr>
          <p:cNvSpPr txBox="1"/>
          <p:nvPr/>
        </p:nvSpPr>
        <p:spPr>
          <a:xfrm>
            <a:off x="10270240" y="4023648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Saliency Map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0DD5E-BDBB-F7E1-6BE1-EA2707BA1FB5}"/>
              </a:ext>
            </a:extLst>
          </p:cNvPr>
          <p:cNvSpPr txBox="1"/>
          <p:nvPr/>
        </p:nvSpPr>
        <p:spPr>
          <a:xfrm>
            <a:off x="10067171" y="7606963"/>
            <a:ext cx="1834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Attention Overlay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51D7A-7181-EA7A-D299-F1126624B889}"/>
              </a:ext>
            </a:extLst>
          </p:cNvPr>
          <p:cNvSpPr txBox="1"/>
          <p:nvPr/>
        </p:nvSpPr>
        <p:spPr>
          <a:xfrm>
            <a:off x="2374344" y="7612413"/>
            <a:ext cx="2522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Detection Attention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23294C-2236-AD4A-8882-CDECCB510C5D}"/>
              </a:ext>
            </a:extLst>
          </p:cNvPr>
          <p:cNvSpPr/>
          <p:nvPr/>
        </p:nvSpPr>
        <p:spPr>
          <a:xfrm>
            <a:off x="1214914" y="833557"/>
            <a:ext cx="12106156" cy="602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Grad-CAM Approach: Detection-Based Attention</a:t>
            </a:r>
            <a:endParaRPr lang="en-US" sz="3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C5B6F5-EAC5-0D3B-E1ED-FE827357FFAE}"/>
              </a:ext>
            </a:extLst>
          </p:cNvPr>
          <p:cNvSpPr/>
          <p:nvPr/>
        </p:nvSpPr>
        <p:spPr>
          <a:xfrm>
            <a:off x="1214914" y="1918454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Methodology</a:t>
            </a:r>
            <a:endParaRPr lang="en-US" sz="1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380C6C-C17F-C104-D0BE-4B0B1E7AF753}"/>
              </a:ext>
            </a:extLst>
          </p:cNvPr>
          <p:cNvSpPr/>
          <p:nvPr/>
        </p:nvSpPr>
        <p:spPr>
          <a:xfrm>
            <a:off x="1214914" y="2436733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EFAB66-1274-22D9-72EC-F3195A5EC67C}"/>
              </a:ext>
            </a:extLst>
          </p:cNvPr>
          <p:cNvSpPr/>
          <p:nvPr/>
        </p:nvSpPr>
        <p:spPr>
          <a:xfrm>
            <a:off x="1214914" y="2741771"/>
            <a:ext cx="3304580" cy="2286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092289-9F4B-BA33-AE4C-B140CD57C576}"/>
              </a:ext>
            </a:extLst>
          </p:cNvPr>
          <p:cNvSpPr/>
          <p:nvPr/>
        </p:nvSpPr>
        <p:spPr>
          <a:xfrm>
            <a:off x="1214914" y="2883932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Gaussian Heatmap</a:t>
            </a:r>
            <a:endParaRPr lang="en-US" sz="1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1A7F14-4ACE-F240-FBB4-AF0DA0E4CB71}"/>
              </a:ext>
            </a:extLst>
          </p:cNvPr>
          <p:cNvSpPr/>
          <p:nvPr/>
        </p:nvSpPr>
        <p:spPr>
          <a:xfrm>
            <a:off x="1214914" y="3378160"/>
            <a:ext cx="33045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 a Gaussian heatmap centered around each detected object.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C0118D-1973-F175-0356-78E800B8C3FE}"/>
              </a:ext>
            </a:extLst>
          </p:cNvPr>
          <p:cNvSpPr/>
          <p:nvPr/>
        </p:nvSpPr>
        <p:spPr>
          <a:xfrm>
            <a:off x="4712375" y="2436733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FDE7F5C-904D-8CCD-48CF-9ABB6BA5C37F}"/>
              </a:ext>
            </a:extLst>
          </p:cNvPr>
          <p:cNvSpPr/>
          <p:nvPr/>
        </p:nvSpPr>
        <p:spPr>
          <a:xfrm>
            <a:off x="4712375" y="2741771"/>
            <a:ext cx="3304699" cy="2286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A34EE9-ED7B-4577-D7BC-D3CCB42E1E47}"/>
              </a:ext>
            </a:extLst>
          </p:cNvPr>
          <p:cNvSpPr/>
          <p:nvPr/>
        </p:nvSpPr>
        <p:spPr>
          <a:xfrm>
            <a:off x="4712375" y="2883932"/>
            <a:ext cx="2562463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Confidence Weighting</a:t>
            </a:r>
            <a:endParaRPr lang="en-US" sz="1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F3BBC5-44D5-5B48-B696-A7545BE49435}"/>
              </a:ext>
            </a:extLst>
          </p:cNvPr>
          <p:cNvSpPr/>
          <p:nvPr/>
        </p:nvSpPr>
        <p:spPr>
          <a:xfrm>
            <a:off x="4712375" y="3378160"/>
            <a:ext cx="3304699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Weight each heatmap by the detection's confidence score from YOLOv5.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B55BD8-6429-78FE-1EA7-0846210342C6}"/>
              </a:ext>
            </a:extLst>
          </p:cNvPr>
          <p:cNvSpPr/>
          <p:nvPr/>
        </p:nvSpPr>
        <p:spPr>
          <a:xfrm>
            <a:off x="8209955" y="2436733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207AD6-1452-64E3-EF86-B916A8765AEF}"/>
              </a:ext>
            </a:extLst>
          </p:cNvPr>
          <p:cNvSpPr/>
          <p:nvPr/>
        </p:nvSpPr>
        <p:spPr>
          <a:xfrm>
            <a:off x="8209955" y="2741771"/>
            <a:ext cx="3304580" cy="2286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3714490-BA7C-B8BF-A05C-CB9755B6EFDA}"/>
              </a:ext>
            </a:extLst>
          </p:cNvPr>
          <p:cNvSpPr/>
          <p:nvPr/>
        </p:nvSpPr>
        <p:spPr>
          <a:xfrm>
            <a:off x="8209955" y="2883932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Combine Detections</a:t>
            </a:r>
            <a:endParaRPr lang="en-US" sz="1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86CE90C-D237-A756-5D62-6366D62005A5}"/>
              </a:ext>
            </a:extLst>
          </p:cNvPr>
          <p:cNvSpPr/>
          <p:nvPr/>
        </p:nvSpPr>
        <p:spPr>
          <a:xfrm>
            <a:off x="8209955" y="3378160"/>
            <a:ext cx="33045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Aggregate all individual object heatmaps into a single attention map.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8D19676-AAFC-2727-ED99-8DDF6651397C}"/>
              </a:ext>
            </a:extLst>
          </p:cNvPr>
          <p:cNvSpPr/>
          <p:nvPr/>
        </p:nvSpPr>
        <p:spPr>
          <a:xfrm>
            <a:off x="1214914" y="4641533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0C07D9B-E54D-AF51-0464-882CB0B8CC2F}"/>
              </a:ext>
            </a:extLst>
          </p:cNvPr>
          <p:cNvSpPr/>
          <p:nvPr/>
        </p:nvSpPr>
        <p:spPr>
          <a:xfrm>
            <a:off x="1214914" y="4946571"/>
            <a:ext cx="5053370" cy="2286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6B1CB03-376C-784F-409D-347EFFC7CECA}"/>
              </a:ext>
            </a:extLst>
          </p:cNvPr>
          <p:cNvSpPr/>
          <p:nvPr/>
        </p:nvSpPr>
        <p:spPr>
          <a:xfrm>
            <a:off x="1214914" y="5088731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Gaussian Blur</a:t>
            </a:r>
            <a:endParaRPr lang="en-US" sz="1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7184D87-908A-F7B8-86F4-761C3DC1D8C9}"/>
              </a:ext>
            </a:extLst>
          </p:cNvPr>
          <p:cNvSpPr/>
          <p:nvPr/>
        </p:nvSpPr>
        <p:spPr>
          <a:xfrm>
            <a:off x="1214914" y="5582960"/>
            <a:ext cx="505337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Apply a 31x31 Gaussian blur for smoother visual representation.</a:t>
            </a:r>
            <a:endParaRPr lang="en-US" sz="15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F47B5BE-E0E7-90B4-E165-DAD79C66E307}"/>
              </a:ext>
            </a:extLst>
          </p:cNvPr>
          <p:cNvSpPr/>
          <p:nvPr/>
        </p:nvSpPr>
        <p:spPr>
          <a:xfrm>
            <a:off x="6461165" y="4641533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8492833-56A5-37E8-4467-7C9C7E4DFBA6}"/>
              </a:ext>
            </a:extLst>
          </p:cNvPr>
          <p:cNvSpPr/>
          <p:nvPr/>
        </p:nvSpPr>
        <p:spPr>
          <a:xfrm>
            <a:off x="6461165" y="4946571"/>
            <a:ext cx="5053370" cy="2286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0A3EA6-F3FC-E2CE-4279-C946895FD60A}"/>
              </a:ext>
            </a:extLst>
          </p:cNvPr>
          <p:cNvSpPr/>
          <p:nvPr/>
        </p:nvSpPr>
        <p:spPr>
          <a:xfrm>
            <a:off x="6461165" y="5088731"/>
            <a:ext cx="241113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Colormap Overlay</a:t>
            </a:r>
            <a:endParaRPr lang="en-US" sz="18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30056CA-34B2-16A3-22A4-82F426E90342}"/>
              </a:ext>
            </a:extLst>
          </p:cNvPr>
          <p:cNvSpPr/>
          <p:nvPr/>
        </p:nvSpPr>
        <p:spPr>
          <a:xfrm>
            <a:off x="6461165" y="5582960"/>
            <a:ext cx="505337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Overlay the final heatmap with a jet colormap (blue to red) onto the original image.</a:t>
            </a:r>
            <a:endParaRPr lang="en-US" sz="15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7F1B7BB-06C2-4DC5-FF50-3938B4F5680C}"/>
              </a:ext>
            </a:extLst>
          </p:cNvPr>
          <p:cNvSpPr/>
          <p:nvPr/>
        </p:nvSpPr>
        <p:spPr>
          <a:xfrm>
            <a:off x="11992808" y="1918454"/>
            <a:ext cx="143006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F3F6BCA-F77B-4408-6A29-C5B304674F42}"/>
              </a:ext>
            </a:extLst>
          </p:cNvPr>
          <p:cNvSpPr/>
          <p:nvPr/>
        </p:nvSpPr>
        <p:spPr>
          <a:xfrm>
            <a:off x="1214914" y="6778704"/>
            <a:ext cx="1220045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detection-based approach to Grad-CAM is engineered for real-time capability, providing visually intuitive insights into the model's focus. It processes visual inputs efficiently, allowing for immediate feedback on critical scene elements.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3247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35202B-B2B1-417A-ED5C-B264BF4D41C7}"/>
              </a:ext>
            </a:extLst>
          </p:cNvPr>
          <p:cNvSpPr/>
          <p:nvPr/>
        </p:nvSpPr>
        <p:spPr>
          <a:xfrm>
            <a:off x="793790" y="2032516"/>
            <a:ext cx="93630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Grad-CAM Validation &amp; Limitations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D2745F-5493-FB72-7C03-92BEC1CF2F77}"/>
              </a:ext>
            </a:extLst>
          </p:cNvPr>
          <p:cNvSpPr/>
          <p:nvPr/>
        </p:nvSpPr>
        <p:spPr>
          <a:xfrm>
            <a:off x="793790" y="2832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A561C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Validation Metrics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961DE2-85D7-657A-CBA1-D1F353B8A18F}"/>
              </a:ext>
            </a:extLst>
          </p:cNvPr>
          <p:cNvSpPr/>
          <p:nvPr/>
        </p:nvSpPr>
        <p:spPr>
          <a:xfrm>
            <a:off x="793790" y="3526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attention focuses on detected objects: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Confirmed that the heatmap consistently highlights relevant entities.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4F8750-AAD8-7D48-AE7A-9536ACBD6A0D}"/>
              </a:ext>
            </a:extLst>
          </p:cNvPr>
          <p:cNvSpPr/>
          <p:nvPr/>
        </p:nvSpPr>
        <p:spPr>
          <a:xfrm>
            <a:off x="793790" y="39687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Closer/larger objects → higher attention: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model prioritizes objects of immediate relevance and size.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601F5D-EC39-E7B0-80BF-02BF6D335DD0}"/>
              </a:ext>
            </a:extLst>
          </p:cNvPr>
          <p:cNvSpPr/>
          <p:nvPr/>
        </p:nvSpPr>
        <p:spPr>
          <a:xfrm>
            <a:off x="793790" y="4410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study: 85% agreement 'makes sense':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Subjective evaluation by users found the explanations largely intuitive.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C61AA3-AAA9-3DCB-F350-8343BE5BF418}"/>
              </a:ext>
            </a:extLst>
          </p:cNvPr>
          <p:cNvSpPr/>
          <p:nvPr/>
        </p:nvSpPr>
        <p:spPr>
          <a:xfrm>
            <a:off x="793790" y="48531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capable (&lt; 15ms per frame):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Demonstrates practical applicability for autonomous systems.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1D169D-9C8E-AC64-CD63-10B304DD10E2}"/>
              </a:ext>
            </a:extLst>
          </p:cNvPr>
          <p:cNvSpPr/>
          <p:nvPr/>
        </p:nvSpPr>
        <p:spPr>
          <a:xfrm>
            <a:off x="793790" y="54711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method presents a crucial trade-off: while less rigorous than some interpretability techniques, its practicality and intuitive visual explanations are invaluable for real-world autonomous vehicle applications.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21454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22C93138-4429-D9BA-1C5D-B5DAE9005E55}"/>
              </a:ext>
            </a:extLst>
          </p:cNvPr>
          <p:cNvSpPr/>
          <p:nvPr/>
        </p:nvSpPr>
        <p:spPr>
          <a:xfrm>
            <a:off x="956733" y="332780"/>
            <a:ext cx="11938000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Does the Model Decide? SHAP Analysis</a:t>
            </a:r>
            <a:endParaRPr lang="en-US" sz="23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4DC7F7C-4F55-3369-CFDF-7A146E3F2EB4}"/>
              </a:ext>
            </a:extLst>
          </p:cNvPr>
          <p:cNvSpPr/>
          <p:nvPr/>
        </p:nvSpPr>
        <p:spPr>
          <a:xfrm>
            <a:off x="1004393" y="761695"/>
            <a:ext cx="11248966" cy="69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While Grad-CAM reveals </a:t>
            </a: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where  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model focuses, SHAP (SHapley Additive explanations)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elucidates </a:t>
            </a: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the model arrives at a particular decision. It transitions from visual attention to causal attribution of input features.</a:t>
            </a:r>
            <a:endParaRPr lang="en-US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F607105F-EE5A-D45E-77D9-B1975DEF4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30" y="1627759"/>
            <a:ext cx="4595495" cy="481608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D927F147-DBFE-BD03-B28B-761B3FE37161}"/>
              </a:ext>
            </a:extLst>
          </p:cNvPr>
          <p:cNvSpPr/>
          <p:nvPr/>
        </p:nvSpPr>
        <p:spPr>
          <a:xfrm>
            <a:off x="2754570" y="2255679"/>
            <a:ext cx="1505069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Grad-CAM</a:t>
            </a:r>
            <a:endParaRPr lang="en-US" b="1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06B49295-5D86-8529-C4D3-CEEC1D05B446}"/>
              </a:ext>
            </a:extLst>
          </p:cNvPr>
          <p:cNvSpPr/>
          <p:nvPr/>
        </p:nvSpPr>
        <p:spPr>
          <a:xfrm>
            <a:off x="2154277" y="2502600"/>
            <a:ext cx="3567232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WHERE does the model look?</a:t>
            </a:r>
            <a:endParaRPr lang="en-US" sz="14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0C3368E0-4630-A3E1-6DB2-54EEF24EA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151" y="1605558"/>
            <a:ext cx="4782837" cy="481608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61598214-24C8-A4A4-5298-0763452C79C7}"/>
              </a:ext>
            </a:extLst>
          </p:cNvPr>
          <p:cNvSpPr/>
          <p:nvPr/>
        </p:nvSpPr>
        <p:spPr>
          <a:xfrm>
            <a:off x="8299651" y="2198741"/>
            <a:ext cx="1505069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SHAP</a:t>
            </a:r>
            <a:endParaRPr lang="en-US" sz="2400" b="1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BDC45D1-39E1-3606-A5DE-6100134A046D}"/>
              </a:ext>
            </a:extLst>
          </p:cNvPr>
          <p:cNvSpPr/>
          <p:nvPr/>
        </p:nvSpPr>
        <p:spPr>
          <a:xfrm>
            <a:off x="7439449" y="2510228"/>
            <a:ext cx="3567351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does the model decide?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A3B740B-B3B5-041A-AE7F-7AD27BA96199}"/>
              </a:ext>
            </a:extLst>
          </p:cNvPr>
          <p:cNvSpPr/>
          <p:nvPr/>
        </p:nvSpPr>
        <p:spPr>
          <a:xfrm>
            <a:off x="1852016" y="3006566"/>
            <a:ext cx="3310176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for Interpretability</a:t>
            </a:r>
            <a:endParaRPr lang="en-US" sz="2000" b="1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57E9ACEF-AC66-1D9D-DB50-AF1B970D0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77" y="3246748"/>
            <a:ext cx="5371148" cy="4143970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782FE10E-F42B-6312-E704-5650C83C27AD}"/>
              </a:ext>
            </a:extLst>
          </p:cNvPr>
          <p:cNvSpPr/>
          <p:nvPr/>
        </p:nvSpPr>
        <p:spPr>
          <a:xfrm>
            <a:off x="6055504" y="4928064"/>
            <a:ext cx="936749" cy="64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Interpretable Feature Pipeline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38BE3E9-DDD5-D444-AEC6-459BE2D18D62}"/>
              </a:ext>
            </a:extLst>
          </p:cNvPr>
          <p:cNvSpPr/>
          <p:nvPr/>
        </p:nvSpPr>
        <p:spPr>
          <a:xfrm>
            <a:off x="6977021" y="6314981"/>
            <a:ext cx="1393581" cy="21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LiDAR Features</a:t>
            </a:r>
            <a:endParaRPr lang="en-US" sz="13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D650D1-CE97-0F7F-1CA1-00883018505F}"/>
              </a:ext>
            </a:extLst>
          </p:cNvPr>
          <p:cNvSpPr/>
          <p:nvPr/>
        </p:nvSpPr>
        <p:spPr>
          <a:xfrm>
            <a:off x="6977021" y="6590103"/>
            <a:ext cx="1393581" cy="34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closest_front, closest_back</a:t>
            </a:r>
            <a:endParaRPr lang="en-US" sz="10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A9A9C25-FE4B-0916-A3E0-EE76E5AD8D76}"/>
              </a:ext>
            </a:extLst>
          </p:cNvPr>
          <p:cNvSpPr/>
          <p:nvPr/>
        </p:nvSpPr>
        <p:spPr>
          <a:xfrm>
            <a:off x="4067767" y="5029807"/>
            <a:ext cx="1424045" cy="21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Derived Features</a:t>
            </a:r>
            <a:endParaRPr lang="en-US" sz="135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9471291D-E928-3628-FF79-ACCE7307CE56}"/>
              </a:ext>
            </a:extLst>
          </p:cNvPr>
          <p:cNvSpPr/>
          <p:nvPr/>
        </p:nvSpPr>
        <p:spPr>
          <a:xfrm>
            <a:off x="4067767" y="5304929"/>
            <a:ext cx="1424045" cy="17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safe_distance_front</a:t>
            </a:r>
            <a:endParaRPr lang="en-US" sz="105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B240334-3D43-B951-26E2-12E3CBD587D3}"/>
              </a:ext>
            </a:extLst>
          </p:cNvPr>
          <p:cNvSpPr/>
          <p:nvPr/>
        </p:nvSpPr>
        <p:spPr>
          <a:xfrm>
            <a:off x="4654187" y="6314981"/>
            <a:ext cx="1393581" cy="21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Vehicle State</a:t>
            </a:r>
            <a:endParaRPr lang="en-US" sz="135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8689F230-A23B-E772-3B5F-D33FAA515213}"/>
              </a:ext>
            </a:extLst>
          </p:cNvPr>
          <p:cNvSpPr/>
          <p:nvPr/>
        </p:nvSpPr>
        <p:spPr>
          <a:xfrm>
            <a:off x="4654187" y="6590103"/>
            <a:ext cx="1393581" cy="34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speed, throttle, brake, steering</a:t>
            </a:r>
            <a:endParaRPr lang="en-US" sz="105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7D93DE3-B2EA-9C96-0131-15076B3845D5}"/>
              </a:ext>
            </a:extLst>
          </p:cNvPr>
          <p:cNvSpPr/>
          <p:nvPr/>
        </p:nvSpPr>
        <p:spPr>
          <a:xfrm>
            <a:off x="7555825" y="4829415"/>
            <a:ext cx="1424045" cy="42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interpretable features</a:t>
            </a:r>
            <a:endParaRPr lang="en-US" sz="135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2011725-9991-A9EC-539A-CC2C6C168D1B}"/>
              </a:ext>
            </a:extLst>
          </p:cNvPr>
          <p:cNvSpPr/>
          <p:nvPr/>
        </p:nvSpPr>
        <p:spPr>
          <a:xfrm>
            <a:off x="7555825" y="5318733"/>
            <a:ext cx="1424045" cy="34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Engineered, human-readable</a:t>
            </a:r>
            <a:endParaRPr lang="en-US" sz="105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55C623E2-2266-A3CE-B4CC-49754323D9E2}"/>
              </a:ext>
            </a:extLst>
          </p:cNvPr>
          <p:cNvSpPr/>
          <p:nvPr/>
        </p:nvSpPr>
        <p:spPr>
          <a:xfrm>
            <a:off x="5721509" y="3577955"/>
            <a:ext cx="1431661" cy="21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Raw sensor data</a:t>
            </a:r>
            <a:endParaRPr lang="en-US" sz="135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6931F375-74FA-E3F3-7313-11FF6BBED2E2}"/>
              </a:ext>
            </a:extLst>
          </p:cNvPr>
          <p:cNvSpPr/>
          <p:nvPr/>
        </p:nvSpPr>
        <p:spPr>
          <a:xfrm>
            <a:off x="5721509" y="3853078"/>
            <a:ext cx="1431661" cy="34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Lidar, camera, IMU inputs</a:t>
            </a:r>
            <a:endParaRPr lang="en-US" sz="105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2384D1D6-D425-C955-BCCB-30BA8F461342}"/>
              </a:ext>
            </a:extLst>
          </p:cNvPr>
          <p:cNvSpPr/>
          <p:nvPr/>
        </p:nvSpPr>
        <p:spPr>
          <a:xfrm>
            <a:off x="1447801" y="7511653"/>
            <a:ext cx="9675376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approach involves reducing millions of raw sensor data points into 14 highly interpretable features. This strategic feature extraction significantly lowers complexity while maintaining clarity and relevance for decision-making.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6531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9A70AB-3781-9FB0-F879-6F5D9BCF7206}"/>
              </a:ext>
            </a:extLst>
          </p:cNvPr>
          <p:cNvSpPr/>
          <p:nvPr/>
        </p:nvSpPr>
        <p:spPr>
          <a:xfrm>
            <a:off x="760690" y="772239"/>
            <a:ext cx="9510713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 Model + SHAP Explainability</a:t>
            </a:r>
            <a:endParaRPr lang="en-US" sz="4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8821CB-998B-8B09-FB89-54A6915AC712}"/>
              </a:ext>
            </a:extLst>
          </p:cNvPr>
          <p:cNvSpPr/>
          <p:nvPr/>
        </p:nvSpPr>
        <p:spPr>
          <a:xfrm>
            <a:off x="760690" y="1994773"/>
            <a:ext cx="529042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 Model: Random Forest Classifier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CCA393-B073-9EBD-DA4B-ED6A5EE096CC}"/>
              </a:ext>
            </a:extLst>
          </p:cNvPr>
          <p:cNvSpPr/>
          <p:nvPr/>
        </p:nvSpPr>
        <p:spPr>
          <a:xfrm>
            <a:off x="760690" y="2551628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 trees, maximum depth of 10 for balanced performance.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585AEF-364A-6D9F-A8E7-A0FB8459DE14}"/>
              </a:ext>
            </a:extLst>
          </p:cNvPr>
          <p:cNvSpPr/>
          <p:nvPr/>
        </p:nvSpPr>
        <p:spPr>
          <a:xfrm>
            <a:off x="760690" y="3323153"/>
            <a:ext cx="628935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Trained on 600 diverse driving samples with an 80/20 split.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1A3824-5DFE-5269-FE52-BBD2A8BB639E}"/>
              </a:ext>
            </a:extLst>
          </p:cNvPr>
          <p:cNvSpPr/>
          <p:nvPr/>
        </p:nvSpPr>
        <p:spPr>
          <a:xfrm>
            <a:off x="760690" y="3746897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Achieved 92% accuracy on the training set and 85% on the test set.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CE31A3-0E71-F6F0-CA63-0886B6C3F11E}"/>
              </a:ext>
            </a:extLst>
          </p:cNvPr>
          <p:cNvSpPr/>
          <p:nvPr/>
        </p:nvSpPr>
        <p:spPr>
          <a:xfrm>
            <a:off x="760690" y="4686895"/>
            <a:ext cx="6289358" cy="2526030"/>
          </a:xfrm>
          <a:prstGeom prst="roundRect">
            <a:avLst>
              <a:gd name="adj" fmla="val 774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319BE1C-2CC0-D6AD-A86E-DDE3F648D9F9}"/>
              </a:ext>
            </a:extLst>
          </p:cNvPr>
          <p:cNvSpPr/>
          <p:nvPr/>
        </p:nvSpPr>
        <p:spPr>
          <a:xfrm>
            <a:off x="760690" y="4686895"/>
            <a:ext cx="6289358" cy="842010"/>
          </a:xfrm>
          <a:prstGeom prst="roundRect">
            <a:avLst>
              <a:gd name="adj" fmla="val 23234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D4948B1-F0E6-F280-1E0F-A88A021E11A3}"/>
              </a:ext>
            </a:extLst>
          </p:cNvPr>
          <p:cNvSpPr/>
          <p:nvPr/>
        </p:nvSpPr>
        <p:spPr>
          <a:xfrm>
            <a:off x="977979" y="4904184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BRAKE</a:t>
            </a:r>
            <a:endParaRPr lang="en-US" sz="25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8700E4-BB39-74B8-DFF8-BE2E4191DC31}"/>
              </a:ext>
            </a:extLst>
          </p:cNvPr>
          <p:cNvSpPr/>
          <p:nvPr/>
        </p:nvSpPr>
        <p:spPr>
          <a:xfrm>
            <a:off x="760690" y="5528905"/>
            <a:ext cx="6289358" cy="842010"/>
          </a:xfrm>
          <a:prstGeom prst="rect">
            <a:avLst/>
          </a:prstGeom>
          <a:solidFill>
            <a:srgbClr val="1A56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A47EC6-C00C-0DE4-6415-FE21F0DE9469}"/>
              </a:ext>
            </a:extLst>
          </p:cNvPr>
          <p:cNvSpPr/>
          <p:nvPr/>
        </p:nvSpPr>
        <p:spPr>
          <a:xfrm>
            <a:off x="760690" y="5528905"/>
            <a:ext cx="6289358" cy="30480"/>
          </a:xfrm>
          <a:prstGeom prst="roundRect">
            <a:avLst>
              <a:gd name="adj" fmla="val 641835"/>
            </a:avLst>
          </a:prstGeom>
          <a:solidFill>
            <a:srgbClr val="336F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4E63AA-BB69-4720-0F0C-61AB7B9215F9}"/>
              </a:ext>
            </a:extLst>
          </p:cNvPr>
          <p:cNvSpPr/>
          <p:nvPr/>
        </p:nvSpPr>
        <p:spPr>
          <a:xfrm>
            <a:off x="977979" y="5746194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ACCELERATE</a:t>
            </a:r>
            <a:endParaRPr lang="en-US" sz="25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49AD49-2CE9-BB78-CD8A-AA247B2417B3}"/>
              </a:ext>
            </a:extLst>
          </p:cNvPr>
          <p:cNvSpPr/>
          <p:nvPr/>
        </p:nvSpPr>
        <p:spPr>
          <a:xfrm>
            <a:off x="760690" y="6370915"/>
            <a:ext cx="6289358" cy="84201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5A8FA2C-343E-986E-837F-5933F0992E8A}"/>
              </a:ext>
            </a:extLst>
          </p:cNvPr>
          <p:cNvSpPr/>
          <p:nvPr/>
        </p:nvSpPr>
        <p:spPr>
          <a:xfrm>
            <a:off x="760690" y="6370915"/>
            <a:ext cx="6289358" cy="30480"/>
          </a:xfrm>
          <a:prstGeom prst="roundRect">
            <a:avLst>
              <a:gd name="adj" fmla="val 641835"/>
            </a:avLst>
          </a:prstGeom>
          <a:solidFill>
            <a:srgbClr val="E5B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B5764BD-1CF9-84FE-02F1-9EBFD2193FC0}"/>
              </a:ext>
            </a:extLst>
          </p:cNvPr>
          <p:cNvSpPr/>
          <p:nvPr/>
        </p:nvSpPr>
        <p:spPr>
          <a:xfrm>
            <a:off x="977979" y="6588204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MAINTAIN</a:t>
            </a:r>
            <a:endParaRPr lang="en-US" sz="25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9903E0-902D-9D0C-1FE1-7D354D3B0A3B}"/>
              </a:ext>
            </a:extLst>
          </p:cNvPr>
          <p:cNvSpPr/>
          <p:nvPr/>
        </p:nvSpPr>
        <p:spPr>
          <a:xfrm>
            <a:off x="7587972" y="1994773"/>
            <a:ext cx="48890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SHapley Additive exPlanations (SHAP)</a:t>
            </a:r>
            <a:endParaRPr lang="en-US" sz="2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68B3D1-35C7-66B3-89AA-697E050BE139}"/>
              </a:ext>
            </a:extLst>
          </p:cNvPr>
          <p:cNvSpPr/>
          <p:nvPr/>
        </p:nvSpPr>
        <p:spPr>
          <a:xfrm>
            <a:off x="7587972" y="2551628"/>
            <a:ext cx="6289358" cy="104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SHAP employs a game-theoretic approach to fairly attribute the contribution of each feature to the model's output. It assigns a SHAP value to each feature for a given prediction.</a:t>
            </a:r>
            <a:endParaRPr lang="en-US" sz="1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1C18D06-57FB-94EF-92B2-DBA266649CAA}"/>
              </a:ext>
            </a:extLst>
          </p:cNvPr>
          <p:cNvSpPr/>
          <p:nvPr/>
        </p:nvSpPr>
        <p:spPr>
          <a:xfrm>
            <a:off x="7587972" y="3790593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Positive SHAP value → pushes prediction TOWARD the decision.</a:t>
            </a:r>
            <a:endParaRPr lang="en-US" sz="17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8754158-B619-BB58-0014-5A0C2952D861}"/>
              </a:ext>
            </a:extLst>
          </p:cNvPr>
          <p:cNvSpPr/>
          <p:nvPr/>
        </p:nvSpPr>
        <p:spPr>
          <a:xfrm>
            <a:off x="7587972" y="4562118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Negative SHAP value → pushes prediction AWAY from the decision.</a:t>
            </a:r>
            <a:endParaRPr lang="en-US" sz="17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D7EACA0-35C4-3AC0-4809-806D5ED72B8F}"/>
              </a:ext>
            </a:extLst>
          </p:cNvPr>
          <p:cNvSpPr/>
          <p:nvPr/>
        </p:nvSpPr>
        <p:spPr>
          <a:xfrm>
            <a:off x="7587972" y="5333643"/>
            <a:ext cx="6289358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Magnitude of SHAP value → indicates the strength of contribution.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76515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E22AAD-DF1B-FBC3-A4EA-960C43DEE4FC}"/>
              </a:ext>
            </a:extLst>
          </p:cNvPr>
          <p:cNvSpPr/>
          <p:nvPr/>
        </p:nvSpPr>
        <p:spPr>
          <a:xfrm>
            <a:off x="3245048" y="353854"/>
            <a:ext cx="6837283" cy="40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SHAP Explanation Example: Braking Decision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ACD62B-33EA-7F3E-6AB6-559CDB5C312A}"/>
              </a:ext>
            </a:extLst>
          </p:cNvPr>
          <p:cNvSpPr/>
          <p:nvPr/>
        </p:nvSpPr>
        <p:spPr>
          <a:xfrm>
            <a:off x="3245048" y="1013222"/>
            <a:ext cx="8140303" cy="205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real-world scenario demonstrating how SHAP attributes feature contributions to a critical braking decision.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BD4F88-18C8-2093-5B0F-EFDC703CE6AE}"/>
              </a:ext>
            </a:extLst>
          </p:cNvPr>
          <p:cNvSpPr/>
          <p:nvPr/>
        </p:nvSpPr>
        <p:spPr>
          <a:xfrm>
            <a:off x="3438049" y="1556861"/>
            <a:ext cx="4321850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Decision: </a:t>
            </a:r>
            <a:r>
              <a:rPr lang="en-US" sz="20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BRAKE</a:t>
            </a: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(Confidence: 89%)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C39945-E550-D8BD-9C35-572C131402AE}"/>
              </a:ext>
            </a:extLst>
          </p:cNvPr>
          <p:cNvSpPr/>
          <p:nvPr/>
        </p:nvSpPr>
        <p:spPr>
          <a:xfrm>
            <a:off x="3245048" y="1363861"/>
            <a:ext cx="15240" cy="707707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12862DC7-9235-F5F5-3F3E-DBFDE724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048" y="2216348"/>
            <a:ext cx="8140303" cy="4558546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46208DB-E403-E3F8-1FF6-0D373C2C3636}"/>
              </a:ext>
            </a:extLst>
          </p:cNvPr>
          <p:cNvSpPr/>
          <p:nvPr/>
        </p:nvSpPr>
        <p:spPr>
          <a:xfrm>
            <a:off x="3245048" y="6919674"/>
            <a:ext cx="8140303" cy="958334"/>
          </a:xfrm>
          <a:prstGeom prst="roundRect">
            <a:avLst>
              <a:gd name="adj" fmla="val 12087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3C661FC-2CA9-BAFB-FEF2-D1FEAC833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636" y="7112675"/>
            <a:ext cx="160853" cy="12858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F366A73-8B3B-FE8D-B95C-1AAA4B796810}"/>
              </a:ext>
            </a:extLst>
          </p:cNvPr>
          <p:cNvSpPr/>
          <p:nvPr/>
        </p:nvSpPr>
        <p:spPr>
          <a:xfrm>
            <a:off x="3663077" y="7080409"/>
            <a:ext cx="7593687" cy="617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is braking because a vehicle is dangerously close at only 8.2 meters (main factor), combined with a high speed of 35 km/h. The safe following distance rule is violated. This reasoning is correct and appropriate, demonstrating clear, actionable insights for autonomous operation.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6971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826255-A708-8AD0-5C03-C393A0236987}"/>
              </a:ext>
            </a:extLst>
          </p:cNvPr>
          <p:cNvSpPr/>
          <p:nvPr/>
        </p:nvSpPr>
        <p:spPr>
          <a:xfrm>
            <a:off x="716788" y="168023"/>
            <a:ext cx="9722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Integrated Real-Time XAI Dashboard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F5E441-40CB-7CA1-4B97-B4A394C39FFA}"/>
              </a:ext>
            </a:extLst>
          </p:cNvPr>
          <p:cNvSpPr/>
          <p:nvPr/>
        </p:nvSpPr>
        <p:spPr>
          <a:xfrm>
            <a:off x="716788" y="88098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dashboard updates at 5-8 frames per second, with all components synchronized, offering a comprehensive, real-time understanding of the autonomous system's perception and decision-making process. We are prepared for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DEMO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showcase its capabilities.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102A6-32BF-0D40-2D31-BD5D6596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88" y="2088682"/>
            <a:ext cx="13201344" cy="570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98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62CDA3-A65E-3932-F5C5-46B91E1B90B9}"/>
              </a:ext>
            </a:extLst>
          </p:cNvPr>
          <p:cNvSpPr/>
          <p:nvPr/>
        </p:nvSpPr>
        <p:spPr>
          <a:xfrm>
            <a:off x="2106454" y="453509"/>
            <a:ext cx="6814899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Results, Impact &amp; Future Directions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7318D9-30F4-6E92-C1F8-ACB473F7F64D}"/>
              </a:ext>
            </a:extLst>
          </p:cNvPr>
          <p:cNvSpPr/>
          <p:nvPr/>
        </p:nvSpPr>
        <p:spPr>
          <a:xfrm>
            <a:off x="2106454" y="1033939"/>
            <a:ext cx="247042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Quantitative Results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9EDF30-F560-A8A2-29CE-045B00A93BEE}"/>
              </a:ext>
            </a:extLst>
          </p:cNvPr>
          <p:cNvSpPr/>
          <p:nvPr/>
        </p:nvSpPr>
        <p:spPr>
          <a:xfrm>
            <a:off x="2106454" y="1589603"/>
            <a:ext cx="10417373" cy="994410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637D8E-48FC-C224-7ED5-D6E34165F74B}"/>
              </a:ext>
            </a:extLst>
          </p:cNvPr>
          <p:cNvSpPr/>
          <p:nvPr/>
        </p:nvSpPr>
        <p:spPr>
          <a:xfrm>
            <a:off x="2129314" y="1612463"/>
            <a:ext cx="658773" cy="948690"/>
          </a:xfrm>
          <a:prstGeom prst="roundRect">
            <a:avLst>
              <a:gd name="adj" fmla="val 1833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CA44F1-0555-DD23-3D85-A0D0C5023A51}"/>
              </a:ext>
            </a:extLst>
          </p:cNvPr>
          <p:cNvSpPr/>
          <p:nvPr/>
        </p:nvSpPr>
        <p:spPr>
          <a:xfrm>
            <a:off x="2335173" y="1932384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D2831E-7F60-1634-FE09-6AF6D71A13BE}"/>
              </a:ext>
            </a:extLst>
          </p:cNvPr>
          <p:cNvSpPr/>
          <p:nvPr/>
        </p:nvSpPr>
        <p:spPr>
          <a:xfrm>
            <a:off x="2952750" y="1777127"/>
            <a:ext cx="2058710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LiDAR Performance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48BC66-4D68-E641-B3B9-DD88E435565C}"/>
              </a:ext>
            </a:extLst>
          </p:cNvPr>
          <p:cNvSpPr/>
          <p:nvPr/>
        </p:nvSpPr>
        <p:spPr>
          <a:xfrm>
            <a:off x="2952750" y="2133124"/>
            <a:ext cx="9383554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&lt;1m error, 95% detection accuracy</a:t>
            </a:r>
            <a:endParaRPr lang="en-US" sz="1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ACF4C81-E714-04F8-783F-F72012649267}"/>
              </a:ext>
            </a:extLst>
          </p:cNvPr>
          <p:cNvSpPr/>
          <p:nvPr/>
        </p:nvSpPr>
        <p:spPr>
          <a:xfrm>
            <a:off x="2106454" y="2748677"/>
            <a:ext cx="10417373" cy="994410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4B7113-CA6E-9136-DFFE-8FF47987231F}"/>
              </a:ext>
            </a:extLst>
          </p:cNvPr>
          <p:cNvSpPr/>
          <p:nvPr/>
        </p:nvSpPr>
        <p:spPr>
          <a:xfrm>
            <a:off x="2129314" y="2771537"/>
            <a:ext cx="658773" cy="948690"/>
          </a:xfrm>
          <a:prstGeom prst="roundRect">
            <a:avLst>
              <a:gd name="adj" fmla="val 1833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E47C85-B5DA-A960-0356-55B0F68217C9}"/>
              </a:ext>
            </a:extLst>
          </p:cNvPr>
          <p:cNvSpPr/>
          <p:nvPr/>
        </p:nvSpPr>
        <p:spPr>
          <a:xfrm>
            <a:off x="2335173" y="3091458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9D32425-05C5-73AC-0353-988AEFA80341}"/>
              </a:ext>
            </a:extLst>
          </p:cNvPr>
          <p:cNvSpPr/>
          <p:nvPr/>
        </p:nvSpPr>
        <p:spPr>
          <a:xfrm>
            <a:off x="2952750" y="2936200"/>
            <a:ext cx="2058710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YOLOv5 F1-Score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3CC62F-2E06-BB4F-D996-32CAF907B49A}"/>
              </a:ext>
            </a:extLst>
          </p:cNvPr>
          <p:cNvSpPr/>
          <p:nvPr/>
        </p:nvSpPr>
        <p:spPr>
          <a:xfrm>
            <a:off x="2952750" y="3292197"/>
            <a:ext cx="9383554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96% object detection reliability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947946-09B9-EB78-0CE5-8E90E3923325}"/>
              </a:ext>
            </a:extLst>
          </p:cNvPr>
          <p:cNvSpPr/>
          <p:nvPr/>
        </p:nvSpPr>
        <p:spPr>
          <a:xfrm>
            <a:off x="2106454" y="3907750"/>
            <a:ext cx="10417373" cy="994410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F036055-85B1-39E9-4D37-116BCC00A058}"/>
              </a:ext>
            </a:extLst>
          </p:cNvPr>
          <p:cNvSpPr/>
          <p:nvPr/>
        </p:nvSpPr>
        <p:spPr>
          <a:xfrm>
            <a:off x="2129314" y="3930610"/>
            <a:ext cx="658773" cy="948690"/>
          </a:xfrm>
          <a:prstGeom prst="roundRect">
            <a:avLst>
              <a:gd name="adj" fmla="val 1833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3F536D-B990-9146-9582-7A6B886333F9}"/>
              </a:ext>
            </a:extLst>
          </p:cNvPr>
          <p:cNvSpPr/>
          <p:nvPr/>
        </p:nvSpPr>
        <p:spPr>
          <a:xfrm>
            <a:off x="2335173" y="4250531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E223546-A1A2-7711-45A6-44F09C36F692}"/>
              </a:ext>
            </a:extLst>
          </p:cNvPr>
          <p:cNvSpPr/>
          <p:nvPr/>
        </p:nvSpPr>
        <p:spPr>
          <a:xfrm>
            <a:off x="2952750" y="4095274"/>
            <a:ext cx="2433757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 Model Accuracy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F734D7D-6F28-3EAB-4F98-C800C3CC87D1}"/>
              </a:ext>
            </a:extLst>
          </p:cNvPr>
          <p:cNvSpPr/>
          <p:nvPr/>
        </p:nvSpPr>
        <p:spPr>
          <a:xfrm>
            <a:off x="2952750" y="4451271"/>
            <a:ext cx="9383554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94% correct predictions on test set</a:t>
            </a:r>
            <a:endParaRPr lang="en-US" sz="12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A8B51CB-CB8C-F572-445A-23FA5B5B83EA}"/>
              </a:ext>
            </a:extLst>
          </p:cNvPr>
          <p:cNvSpPr/>
          <p:nvPr/>
        </p:nvSpPr>
        <p:spPr>
          <a:xfrm>
            <a:off x="2106454" y="5066824"/>
            <a:ext cx="10417373" cy="994410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675E67-BDB7-0B06-A507-8D110FD7CFCC}"/>
              </a:ext>
            </a:extLst>
          </p:cNvPr>
          <p:cNvSpPr/>
          <p:nvPr/>
        </p:nvSpPr>
        <p:spPr>
          <a:xfrm>
            <a:off x="2129314" y="5089684"/>
            <a:ext cx="658773" cy="948690"/>
          </a:xfrm>
          <a:prstGeom prst="roundRect">
            <a:avLst>
              <a:gd name="adj" fmla="val 1833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EDB8B2-3008-7616-EF21-2FBD60198558}"/>
              </a:ext>
            </a:extLst>
          </p:cNvPr>
          <p:cNvSpPr/>
          <p:nvPr/>
        </p:nvSpPr>
        <p:spPr>
          <a:xfrm>
            <a:off x="2335173" y="5409605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3906E8C-5EE2-A6E3-4B45-D4C6DF431570}"/>
              </a:ext>
            </a:extLst>
          </p:cNvPr>
          <p:cNvSpPr/>
          <p:nvPr/>
        </p:nvSpPr>
        <p:spPr>
          <a:xfrm>
            <a:off x="2952750" y="5254347"/>
            <a:ext cx="2058710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SHAP Expert Rating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EA4C658-D7B5-68A1-A3A1-FBA419A3C43B}"/>
              </a:ext>
            </a:extLst>
          </p:cNvPr>
          <p:cNvSpPr/>
          <p:nvPr/>
        </p:nvSpPr>
        <p:spPr>
          <a:xfrm>
            <a:off x="2952750" y="5610344"/>
            <a:ext cx="9383554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4.2/5 for interpretability and usefulness</a:t>
            </a:r>
            <a:endParaRPr lang="en-US" sz="12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17AD42F-8235-F5CA-48EA-6B25F9960ECE}"/>
              </a:ext>
            </a:extLst>
          </p:cNvPr>
          <p:cNvSpPr/>
          <p:nvPr/>
        </p:nvSpPr>
        <p:spPr>
          <a:xfrm>
            <a:off x="2106454" y="6225897"/>
            <a:ext cx="10417373" cy="994410"/>
          </a:xfrm>
          <a:prstGeom prst="roundRect">
            <a:avLst>
              <a:gd name="adj" fmla="val 14906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673E20A-F8CD-F8D0-EA3B-94272286F463}"/>
              </a:ext>
            </a:extLst>
          </p:cNvPr>
          <p:cNvSpPr/>
          <p:nvPr/>
        </p:nvSpPr>
        <p:spPr>
          <a:xfrm>
            <a:off x="2129314" y="6248757"/>
            <a:ext cx="658773" cy="948690"/>
          </a:xfrm>
          <a:prstGeom prst="roundRect">
            <a:avLst>
              <a:gd name="adj" fmla="val 1833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F2B65E7-07CC-6360-C0FA-7ACADF2656A2}"/>
              </a:ext>
            </a:extLst>
          </p:cNvPr>
          <p:cNvSpPr/>
          <p:nvPr/>
        </p:nvSpPr>
        <p:spPr>
          <a:xfrm>
            <a:off x="2335173" y="6568678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6F78A49-3699-5B4B-C2D1-A848CF2E1FE3}"/>
              </a:ext>
            </a:extLst>
          </p:cNvPr>
          <p:cNvSpPr/>
          <p:nvPr/>
        </p:nvSpPr>
        <p:spPr>
          <a:xfrm>
            <a:off x="2952750" y="6413421"/>
            <a:ext cx="2074783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6D87F83-8773-0E6E-4603-E3515DE34286}"/>
              </a:ext>
            </a:extLst>
          </p:cNvPr>
          <p:cNvSpPr/>
          <p:nvPr/>
        </p:nvSpPr>
        <p:spPr>
          <a:xfrm>
            <a:off x="2952750" y="6769418"/>
            <a:ext cx="9383554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5-8 frames per second on current hardware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09010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44CA6-A8C8-53B5-6D86-BCEE1E22E68F}"/>
              </a:ext>
            </a:extLst>
          </p:cNvPr>
          <p:cNvSpPr/>
          <p:nvPr/>
        </p:nvSpPr>
        <p:spPr>
          <a:xfrm>
            <a:off x="2972514" y="378023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Impact Areas</a:t>
            </a:r>
            <a:endParaRPr lang="en-US" sz="16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F6455D2-BCCD-3AD0-CB8C-06A9FA20F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2514" y="909995"/>
            <a:ext cx="343257" cy="34325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582D6DC-2BFB-9D68-09E0-D85D1BB49862}"/>
              </a:ext>
            </a:extLst>
          </p:cNvPr>
          <p:cNvSpPr/>
          <p:nvPr/>
        </p:nvSpPr>
        <p:spPr>
          <a:xfrm>
            <a:off x="2972514" y="1424821"/>
            <a:ext cx="1716405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Safety Validation</a:t>
            </a:r>
            <a:endParaRPr lang="en-US" sz="13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86A942-29FA-B2C0-07BE-6F6B1F6E55A9}"/>
              </a:ext>
            </a:extLst>
          </p:cNvPr>
          <p:cNvSpPr/>
          <p:nvPr/>
        </p:nvSpPr>
        <p:spPr>
          <a:xfrm>
            <a:off x="2972514" y="1721644"/>
            <a:ext cx="4256842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Validates AI reasoning before deployment, enhancing system reliability.</a:t>
            </a:r>
            <a:endParaRPr lang="en-US" sz="10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D4D846BC-E221-B37A-0C05-8F55D9FDB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0925" y="909995"/>
            <a:ext cx="343257" cy="343257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3830078-E0E7-1353-2EFC-3CB41600DC36}"/>
              </a:ext>
            </a:extLst>
          </p:cNvPr>
          <p:cNvSpPr/>
          <p:nvPr/>
        </p:nvSpPr>
        <p:spPr>
          <a:xfrm>
            <a:off x="7400925" y="1424821"/>
            <a:ext cx="1895356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Regulatory Compliance</a:t>
            </a:r>
            <a:endParaRPr lang="en-US" sz="13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5802BBB-13AA-08D1-1240-F10C40D186FA}"/>
              </a:ext>
            </a:extLst>
          </p:cNvPr>
          <p:cNvSpPr/>
          <p:nvPr/>
        </p:nvSpPr>
        <p:spPr>
          <a:xfrm>
            <a:off x="7400925" y="1721644"/>
            <a:ext cx="4256842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Meets evolving EU AI Act transparency requirements for autonomous systems.</a:t>
            </a:r>
            <a:endParaRPr lang="en-US" sz="10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C584C569-4385-F214-27E2-532AF6E74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72514" y="2435304"/>
            <a:ext cx="343257" cy="343257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6F3A6AA-23D0-67EC-D166-475E4E73E008}"/>
              </a:ext>
            </a:extLst>
          </p:cNvPr>
          <p:cNvSpPr/>
          <p:nvPr/>
        </p:nvSpPr>
        <p:spPr>
          <a:xfrm>
            <a:off x="2972514" y="2950131"/>
            <a:ext cx="1716405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Passenger Trust</a:t>
            </a:r>
            <a:endParaRPr lang="en-US" sz="13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958CA6A-43E1-5EBE-9CBF-EA8DABF7E2AB}"/>
              </a:ext>
            </a:extLst>
          </p:cNvPr>
          <p:cNvSpPr/>
          <p:nvPr/>
        </p:nvSpPr>
        <p:spPr>
          <a:xfrm>
            <a:off x="2972514" y="3246953"/>
            <a:ext cx="4256842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Increases passenger confidence through understandable vehicle behavior.</a:t>
            </a:r>
            <a:endParaRPr lang="en-US" sz="10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9F1EA8A0-8D41-95B2-65CB-6C62266139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0925" y="2435304"/>
            <a:ext cx="343257" cy="343257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C16E32DA-6A89-436B-988D-13BFFACD44D0}"/>
              </a:ext>
            </a:extLst>
          </p:cNvPr>
          <p:cNvSpPr/>
          <p:nvPr/>
        </p:nvSpPr>
        <p:spPr>
          <a:xfrm>
            <a:off x="7400925" y="2950131"/>
            <a:ext cx="1927741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Development Efficiency</a:t>
            </a:r>
            <a:endParaRPr lang="en-US" sz="13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C0433E8-CC15-9479-98CF-0D5B142EFB60}"/>
              </a:ext>
            </a:extLst>
          </p:cNvPr>
          <p:cNvSpPr/>
          <p:nvPr/>
        </p:nvSpPr>
        <p:spPr>
          <a:xfrm>
            <a:off x="7400925" y="3246953"/>
            <a:ext cx="4256842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Facilitates faster debugging and improvement cycles for AI models.</a:t>
            </a:r>
            <a:endParaRPr lang="en-US" sz="10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14F5112-790B-910A-626E-E4E454C51883}"/>
              </a:ext>
            </a:extLst>
          </p:cNvPr>
          <p:cNvSpPr/>
          <p:nvPr/>
        </p:nvSpPr>
        <p:spPr>
          <a:xfrm>
            <a:off x="2972514" y="3977759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FC759D2-D347-C0D5-0A36-4B6CD4E9110F}"/>
              </a:ext>
            </a:extLst>
          </p:cNvPr>
          <p:cNvSpPr/>
          <p:nvPr/>
        </p:nvSpPr>
        <p:spPr>
          <a:xfrm>
            <a:off x="2972514" y="4643318"/>
            <a:ext cx="417504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GPU acceleration to achieve 30+ FPS</a:t>
            </a:r>
            <a:endParaRPr lang="en-US" sz="10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2EC3C4D3-A262-70C9-6031-953A7DB2ECD2}"/>
              </a:ext>
            </a:extLst>
          </p:cNvPr>
          <p:cNvSpPr/>
          <p:nvPr/>
        </p:nvSpPr>
        <p:spPr>
          <a:xfrm>
            <a:off x="2972514" y="4907518"/>
            <a:ext cx="417504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steering explanation capabilities</a:t>
            </a:r>
            <a:endParaRPr lang="en-US" sz="10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9CCB72E-0483-B2F6-9699-D11A237DEACD}"/>
              </a:ext>
            </a:extLst>
          </p:cNvPr>
          <p:cNvSpPr/>
          <p:nvPr/>
        </p:nvSpPr>
        <p:spPr>
          <a:xfrm>
            <a:off x="2972514" y="5175052"/>
            <a:ext cx="417504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Conduct extensive real-world vehicle testing</a:t>
            </a:r>
            <a:endParaRPr lang="en-US" sz="10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C951764-1022-A37C-8553-E4A2B3DC7634}"/>
              </a:ext>
            </a:extLst>
          </p:cNvPr>
          <p:cNvSpPr/>
          <p:nvPr/>
        </p:nvSpPr>
        <p:spPr>
          <a:xfrm>
            <a:off x="7490222" y="3977759"/>
            <a:ext cx="2059662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71F7719-E761-3D38-12CE-A86DB077DF2B}"/>
              </a:ext>
            </a:extLst>
          </p:cNvPr>
          <p:cNvSpPr/>
          <p:nvPr/>
        </p:nvSpPr>
        <p:spPr>
          <a:xfrm>
            <a:off x="7490222" y="4372451"/>
            <a:ext cx="417504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to 5-8 FPS (not production-ready)</a:t>
            </a:r>
            <a:endParaRPr lang="en-US" sz="10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4528121-C5FB-E588-0723-3D9EE356D995}"/>
              </a:ext>
            </a:extLst>
          </p:cNvPr>
          <p:cNvSpPr/>
          <p:nvPr/>
        </p:nvSpPr>
        <p:spPr>
          <a:xfrm>
            <a:off x="7482720" y="4605934"/>
            <a:ext cx="4175046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LiDAR range currently limited to 30 meters</a:t>
            </a:r>
            <a:endParaRPr lang="en-US" sz="10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1412D74-A4E8-9D11-583E-6BF46432A150}"/>
              </a:ext>
            </a:extLst>
          </p:cNvPr>
          <p:cNvSpPr/>
          <p:nvPr/>
        </p:nvSpPr>
        <p:spPr>
          <a:xfrm>
            <a:off x="2972514" y="5648444"/>
            <a:ext cx="8685252" cy="118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future of autonomous vehicles is TRANSPARENCY.</a:t>
            </a:r>
            <a:endParaRPr lang="en-US" sz="37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B9262F43-DD7D-C0FF-C720-F6B7ABA2AFC7}"/>
              </a:ext>
            </a:extLst>
          </p:cNvPr>
          <p:cNvSpPr/>
          <p:nvPr/>
        </p:nvSpPr>
        <p:spPr>
          <a:xfrm>
            <a:off x="2972514" y="7038499"/>
            <a:ext cx="8685252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We've proven explainable AI is achievable in real-time—making every decision understandable, verifiable, and trustworthy.</a:t>
            </a:r>
            <a:endParaRPr lang="en-US" sz="10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4464C1F-A5D5-1B44-C317-5846C4DF1410}"/>
              </a:ext>
            </a:extLst>
          </p:cNvPr>
          <p:cNvSpPr/>
          <p:nvPr/>
        </p:nvSpPr>
        <p:spPr>
          <a:xfrm>
            <a:off x="2972514" y="7412474"/>
            <a:ext cx="8685252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8470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1427</Words>
  <Application>Microsoft Macintosh PowerPoint</Application>
  <PresentationFormat>Custom</PresentationFormat>
  <Paragraphs>209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Instrument Sans Medium</vt:lpstr>
      <vt:lpstr>Arial</vt:lpstr>
      <vt:lpstr>Instrument Sans Semi Bold</vt:lpstr>
      <vt:lpstr>Instrument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Mohammad khz</dc:creator>
  <cp:lastModifiedBy>ABDULLAH HANI ABDELLATIF AL-SHOBAKI</cp:lastModifiedBy>
  <cp:revision>4</cp:revision>
  <dcterms:created xsi:type="dcterms:W3CDTF">2026-01-07T13:31:02Z</dcterms:created>
  <dcterms:modified xsi:type="dcterms:W3CDTF">2026-01-09T14:15:51Z</dcterms:modified>
</cp:coreProperties>
</file>